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members of the jury and supervisors. Today, I am presenting my internship project, ASSA. ASSA is an integrated, three-module software ecosystem built to automate ecological regulation, fleet tracking, and seafood trading across three of Ethiopia's primary lakes. During my time, I focused on bringing production-grade security, database reliability, geospatial check validations, and real-time monitoring streams into this platform. Today, I will walk you through the architecture, the technical decisions behind it, my specific contributions, and the real-world engineering challenges I addressed.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begin with the overall context. The ASSA system consists of three frontend React modules communicating with a central Express API backend. The Admin Dashboard acts as the Command Center for government supervisors. The Fisher Mobile App acts as the field registration portal for fishers on the lake. The Fish Market acts as a transparent, buyer-facing retail system. This architecture ensures that every single stakeholder in the fisheries ecosystem—from the local fisher on a boat to the regional administrator in Bahir Dar—shares a single source of truth in real-time.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project addresses four primary problems. First, is ecological overfishing. Without direct catch-limits monitoring, regulatory bodies cannot enforce species quotas effectively. Second, are enforcement blindspots. Inspectors could not verify if a vessel logged its catches from allowed or prohibited breeding zones. Third, is market friction. Fishers lack transparent market access, causing delay and loss of fresh inventory. Fourth, from a systems engineering perspective, early prototypes suffered from database locking, session vulnerability, and lacked logging correlation.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Based on the problem statement, our architectural objectives were clear. We aimed to: build automated fleet telemetry to monitor boats during active trips; develop geospatial validation to verify that catches are logged in allowed coordinates; enforce species limits at the application level to prevent ecological depletion; and secure the entire codebase with correlation log tracing, rate-limit boundaries, and comprehensive uptime diagnostics.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tech stack was selected for modularity and modern production standards. On the frontend, we use React.js built with Vite for quick, optimized bundles, alongside Leaflet for command map rendering. The backend runs on Node.js and Express.js, utilizing a PostgreSQL database connected through the Prisma ORM Client. Security is handled by Bcryptjs, jsonwebtoken, and express-rate-limit. For media assets, such as physical catch pictures, we integrate the Cloudinary API with local disk uploads as a safe fallback.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illustrates the primary data flow architecture—what we call the 'Catch Lifecycle'. It begins when a fisher initiates a trip. GPS coordinates are logged. Once the catch is captured and logged, the backend evaluates the coordinates in real-time. If clean, it sits as 'PENDING' in the admin's queue. When approved, a database transaction validates the quota, updates the status to 'VERIFIED', creates a marketplace listing, and broadcasts a lightweight Server-Sent Event to all active buyer clients immediately.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core technical component of the system is our geospatial compliance verification, located in `geo.service.js`. When a fisher submits a catch, the backend retrieves the zone coordinates. If a polygon is stored in the database, it applies a ray-casting Point-in-Polygon check. If the coordinates fall outside, or if a polygon is missing and the coordinate deviates more than 3 km from the zone center using the Haversine formula, the catch is flagged with a GPS mismatch warning, notifying inspectors of potential illegal boundary violations.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prevent ecological collapse, I implemented application-level quota enforcement. When an admin attempts to approve a catch, the backend runs a projected weight check inside a database write transaction. If approving the catch exceeds the monthly quota limit, the API rejects the request with an HTTP 409 Conflict. Uptime safeguards also trigger warning alerts when a species' take reaches 90%, and lock out further approvals when it hits 100%.</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 have summarized my specific contributions. I designed the PostgreSQL relational schema and handled migrations using Prisma ORM. I implemented the Refresh Token Rotation security pipeline, including brute-force login lockout guards. I coded the math behind the geospatial validation engine in `geo.service.js`. I engineered the ACID database transaction blocks that ensure quota check integrity, and I wrote the deep diagnostic health checks that allow operations teams to monitor memory and databases in real-time.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During development, I faced several key engineering challenges. First, our initial SQLite engine suffered from concurrency limits during high-volume testing. Second, issuing infinite refresh tokens created database storage bloat risks. Third, unstable network connections on Rift Valley lakes caused persistent SSE stream drops. Finally, we needed a lightweight method to check coordinate polygons without relying on high-overhead geospatial GIS database extensions.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resolve these issues, we took four actions. We migrated to PostgreSQL using Prisma Client database transactions. We capped active refresh tokens to 5 per user to limit DB footprint, revoking the oldest ones upon a new login. We resolved SSE network drops by building a self-healing replay registry: if a client reconnects, it sends the last event ID, and the server restreams only the missed events. Finally, we wrote our own point-in-polygon math, eliminating the need for expensive GIS database extensions.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outlines our standard demonstration workflow. We log in as the fisher to start a trip and log a catch. Instantly, the admin command center alerts update via SSE. The admin reviews the catch, verifies that coordinates match Gorgora allowed zones, and clicks approve. The catch is immediately listed in the marketplace, where a buyer completes an order, triggering the quota deductions and updating our audit trail.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Through this project, I gained invaluable software engineering experience. I learned the critical importance of ACID database transactions when coordinating multiple related writes. I developed a deep appreciation for stateful connection management over unidirectional SSE pipelines, and I learned to write lightweight mathematical engines directly in the server runtime to minimize database overhead.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spirit of engineering transparency, I want to highlight the current system limitations. First, our SSE client registry runs in-memory on a single node instance; horizontal scaling across multiple instances would require migrating to a Redis Pub/Sub cluster. Second, fishers currently require network access to submit catches. In the future, I plan to integrate local SQLite buffering on the device for offline sync. Finally, alerts are currently in-app only, and integrating an SMS gateway is a logical next step.</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the ASSA system successfully demonstrates how modern web technologies can automate resource enforcement, secure transactional pipelines, and provide transparent commerce for Rift Valley fisheries. I would like to thank my supervisors and instructors for their guidance throughout this internship. I am now open to any questions you may have about the architecture or implementation details of the project.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1E24"/>
        </a:solidFill>
        <a:effectLst/>
      </p:bgPr>
    </p:bg>
    <p:spTree>
      <p:nvGrpSpPr>
        <p:cNvPr id="1" name=""/>
        <p:cNvGrpSpPr/>
        <p:nvPr/>
      </p:nvGrpSpPr>
      <p:grpSpPr/>
      <p:sp>
        <p:nvSpPr>
          <p:cNvPr id="2" name="TextBox 1"/>
          <p:cNvSpPr txBox="1"/>
          <p:nvPr/>
        </p:nvSpPr>
        <p:spPr>
          <a:xfrm>
            <a:off x="914400" y="1645920"/>
            <a:ext cx="10362895" cy="3657600"/>
          </a:xfrm>
          <a:prstGeom prst="rect">
            <a:avLst/>
          </a:prstGeom>
          <a:noFill/>
        </p:spPr>
        <p:txBody>
          <a:bodyPr wrap="square">
            <a:spAutoFit/>
          </a:bodyPr>
          <a:lstStyle/>
          <a:p>
            <a:pPr algn="ctr">
              <a:defRPr sz="5600" b="1">
                <a:solidFill>
                  <a:srgbClr val="00F2FE"/>
                </a:solidFill>
                <a:latin typeface="Arial"/>
              </a:defRPr>
            </a:pPr>
            <a:r>
              <a:t>ASSA SYSTEM</a:t>
            </a:r>
          </a:p>
          <a:p>
            <a:pPr algn="ctr">
              <a:spcBef>
                <a:spcPts val="1400"/>
              </a:spcBef>
              <a:defRPr sz="2200">
                <a:solidFill>
                  <a:srgbClr val="FFFFFF"/>
                </a:solidFill>
                <a:latin typeface="Arial"/>
              </a:defRPr>
            </a:pPr>
            <a:r>
              <a:t>Smart Fisheries Monitoring &amp; Digital Fish Market System</a:t>
            </a:r>
          </a:p>
          <a:p>
            <a:pPr algn="ctr">
              <a:spcBef>
                <a:spcPts val="800"/>
              </a:spcBef>
              <a:defRPr sz="1400">
                <a:solidFill>
                  <a:srgbClr val="B4B8C4"/>
                </a:solidFill>
                <a:latin typeface="Arial"/>
              </a:defRPr>
            </a:pPr>
            <a:r>
              <a:t>A Unified Relational Platform for Resource Enforcement and Digital Fish Commerce</a:t>
            </a:r>
          </a:p>
          <a:p>
            <a:br/>
            <a:pPr algn="ctr">
              <a:spcBef>
                <a:spcPts val="2800"/>
              </a:spcBef>
              <a:defRPr sz="1300">
                <a:solidFill>
                  <a:srgbClr val="4FACFE"/>
                </a:solidFill>
                <a:latin typeface="Arial"/>
              </a:defRPr>
            </a:pPr>
            <a:r>
              <a:t>Software Engineering Internship Presentation</a:t>
            </a:r>
            <a:br/>
            <a:r>
              <a:t>Presenter: Software Engineering Intern</a:t>
            </a:r>
            <a:br/>
            <a:r>
              <a:t>Scope: Lake Tana, Lake Ziway, and Lake Hawassa, Ethiopia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E1E24"/>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2800" b="1">
                <a:solidFill>
                  <a:srgbClr val="00F2FE"/>
                </a:solidFill>
                <a:latin typeface="Arial"/>
              </a:defRPr>
            </a:pPr>
            <a:r>
              <a:t>Project &amp; Context Overview</a:t>
            </a:r>
          </a:p>
        </p:txBody>
      </p:sp>
      <p:sp>
        <p:nvSpPr>
          <p:cNvPr id="3" name="TextBox 2"/>
          <p:cNvSpPr txBox="1"/>
          <p:nvPr/>
        </p:nvSpPr>
        <p:spPr>
          <a:xfrm>
            <a:off x="457200" y="1188720"/>
            <a:ext cx="5486400" cy="5029200"/>
          </a:xfrm>
          <a:prstGeom prst="rect">
            <a:avLst/>
          </a:prstGeom>
          <a:noFill/>
        </p:spPr>
        <p:txBody>
          <a:bodyPr wrap="square">
            <a:spAutoFit/>
          </a:bodyPr>
          <a:lstStyle/>
          <a:p>
            <a:pPr>
              <a:spcAft>
                <a:spcPts val="600"/>
              </a:spcAft>
              <a:defRPr sz="1300" b="1">
                <a:solidFill>
                  <a:srgbClr val="00F2FE"/>
                </a:solidFill>
                <a:latin typeface="Arial"/>
              </a:defRPr>
            </a:pPr>
            <a:r>
              <a:t>Unified Operations Scope</a:t>
            </a:r>
          </a:p>
          <a:p>
            <a:pPr>
              <a:spcAft>
                <a:spcPts val="600"/>
              </a:spcAft>
              <a:defRPr sz="1200">
                <a:solidFill>
                  <a:srgbClr val="FFFFFF"/>
                </a:solidFill>
                <a:latin typeface="Arial"/>
              </a:defRPr>
            </a:pPr>
            <a:r>
              <a:t>   Coordinating commercial and regulatory monitoring across Lake Tana, Lake Ziway, and Lake Hawassa in Ethiopia.</a:t>
            </a:r>
          </a:p>
          <a:p>
            <a:pPr>
              <a:spcAft>
                <a:spcPts val="600"/>
              </a:spcAft>
              <a:defRPr sz="1300" b="1">
                <a:solidFill>
                  <a:srgbClr val="00F2FE"/>
                </a:solidFill>
                <a:latin typeface="Arial"/>
              </a:defRPr>
            </a:pPr>
            <a:r>
              <a:t>Admin Command Center (Port 3001)</a:t>
            </a:r>
          </a:p>
          <a:p>
            <a:pPr>
              <a:spcAft>
                <a:spcPts val="600"/>
              </a:spcAft>
              <a:defRPr sz="1200">
                <a:solidFill>
                  <a:srgbClr val="FFFFFF"/>
                </a:solidFill>
                <a:latin typeface="Arial"/>
              </a:defRPr>
            </a:pPr>
            <a:r>
              <a:t>   Central dashboard displaying live telemetry, catches, market metrics, zone rules configuration, and user onboarding.</a:t>
            </a:r>
          </a:p>
          <a:p>
            <a:pPr>
              <a:spcAft>
                <a:spcPts val="600"/>
              </a:spcAft>
              <a:defRPr sz="1300" b="1">
                <a:solidFill>
                  <a:srgbClr val="00F2FE"/>
                </a:solidFill>
                <a:latin typeface="Arial"/>
              </a:defRPr>
            </a:pPr>
            <a:r>
              <a:t>Fisher Mobile App (Port 3002)</a:t>
            </a:r>
          </a:p>
          <a:p>
            <a:pPr>
              <a:spcAft>
                <a:spcPts val="600"/>
              </a:spcAft>
              <a:defRPr sz="1200">
                <a:solidFill>
                  <a:srgbClr val="FFFFFF"/>
                </a:solidFill>
                <a:latin typeface="Arial"/>
              </a:defRPr>
            </a:pPr>
            <a:r>
              <a:t>   Mobile-first portal for fishers to activate boat trips, log catches with GPS markers, and display license QR keys.</a:t>
            </a:r>
          </a:p>
          <a:p>
            <a:pPr>
              <a:spcAft>
                <a:spcPts val="600"/>
              </a:spcAft>
              <a:defRPr sz="1300" b="1">
                <a:solidFill>
                  <a:srgbClr val="00F2FE"/>
                </a:solidFill>
                <a:latin typeface="Arial"/>
              </a:defRPr>
            </a:pPr>
            <a:r>
              <a:t>Digital Fish Market (Port 3003)</a:t>
            </a:r>
          </a:p>
          <a:p>
            <a:pPr>
              <a:spcAft>
                <a:spcPts val="600"/>
              </a:spcAft>
              <a:defRPr sz="1200">
                <a:solidFill>
                  <a:srgbClr val="FFFFFF"/>
                </a:solidFill>
                <a:latin typeface="Arial"/>
              </a:defRPr>
            </a:pPr>
            <a:r>
              <a:t>   E-commerce marketplace display showing species listings, price trends, and order bookings.</a:t>
            </a:r>
          </a:p>
          <a:p>
            <a:pPr>
              <a:spcAft>
                <a:spcPts val="600"/>
              </a:spcAft>
              <a:defRPr sz="1300" b="1">
                <a:solidFill>
                  <a:srgbClr val="00F2FE"/>
                </a:solidFill>
                <a:latin typeface="Arial"/>
              </a:defRPr>
            </a:pPr>
            <a:r>
              <a:t>Modular Express Backend (Port 4000)</a:t>
            </a:r>
          </a:p>
          <a:p>
            <a:pPr>
              <a:spcAft>
                <a:spcPts val="600"/>
              </a:spcAft>
              <a:defRPr sz="1200">
                <a:solidFill>
                  <a:srgbClr val="FFFFFF"/>
                </a:solidFill>
                <a:latin typeface="Arial"/>
              </a:defRPr>
            </a:pPr>
            <a:r>
              <a:t>   REST API and in-memory Server-Sent Events (SSE) broadcaster connecting to a relational datastore.</a:t>
            </a:r>
          </a:p>
        </p:txBody>
      </p:sp>
      <p:pic>
        <p:nvPicPr>
          <p:cNvPr id="4" name="Picture 3" descr="login_ui.png"/>
          <p:cNvPicPr>
            <a:picLocks noChangeAspect="1"/>
          </p:cNvPicPr>
          <p:nvPr/>
        </p:nvPicPr>
        <p:blipFill>
          <a:blip r:embed="rId2"/>
          <a:stretch>
            <a:fillRect/>
          </a:stretch>
        </p:blipFill>
        <p:spPr>
          <a:xfrm>
            <a:off x="6217920" y="1645920"/>
            <a:ext cx="5486400" cy="384048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A2C35"/>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2800" b="1">
                <a:solidFill>
                  <a:srgbClr val="00F2FE"/>
                </a:solidFill>
                <a:latin typeface="Arial"/>
              </a:defRPr>
            </a:pPr>
            <a:r>
              <a:t>Problem Statement</a:t>
            </a:r>
          </a:p>
        </p:txBody>
      </p:sp>
      <p:sp>
        <p:nvSpPr>
          <p:cNvPr id="3" name="TextBox 2"/>
          <p:cNvSpPr txBox="1"/>
          <p:nvPr/>
        </p:nvSpPr>
        <p:spPr>
          <a:xfrm>
            <a:off x="457200" y="1371600"/>
            <a:ext cx="11277295" cy="4754880"/>
          </a:xfrm>
          <a:prstGeom prst="rect">
            <a:avLst/>
          </a:prstGeom>
          <a:noFill/>
        </p:spPr>
        <p:txBody>
          <a:bodyPr wrap="square">
            <a:spAutoFit/>
          </a:bodyPr>
          <a:lstStyle/>
          <a:p>
            <a:pPr>
              <a:spcAft>
                <a:spcPts val="600"/>
              </a:spcAft>
              <a:defRPr sz="1400" b="1">
                <a:solidFill>
                  <a:srgbClr val="00F2FE"/>
                </a:solidFill>
                <a:latin typeface="Arial"/>
              </a:defRPr>
            </a:pPr>
            <a:r>
              <a:t>1. Ecological Depletion Risks</a:t>
            </a:r>
          </a:p>
          <a:p>
            <a:pPr>
              <a:spcAft>
                <a:spcPts val="600"/>
              </a:spcAft>
              <a:defRPr sz="1300">
                <a:solidFill>
                  <a:srgbClr val="FFFFFF"/>
                </a:solidFill>
                <a:latin typeface="Arial"/>
              </a:defRPr>
            </a:pPr>
            <a:r>
              <a:t>   Lack of real-time monitoring on species take. Regulatory bodies previously had zero visibility into aggregate monthly limits, risking overfishing of key endemic species.</a:t>
            </a:r>
          </a:p>
          <a:p>
            <a:pPr>
              <a:spcAft>
                <a:spcPts val="600"/>
              </a:spcAft>
              <a:defRPr sz="1400" b="1">
                <a:solidFill>
                  <a:srgbClr val="00F2FE"/>
                </a:solidFill>
                <a:latin typeface="Arial"/>
              </a:defRPr>
            </a:pPr>
            <a:r>
              <a:t>2. Enforcement Blindspots</a:t>
            </a:r>
          </a:p>
          <a:p>
            <a:pPr>
              <a:spcAft>
                <a:spcPts val="600"/>
              </a:spcAft>
              <a:defRPr sz="1300">
                <a:solidFill>
                  <a:srgbClr val="FFFFFF"/>
                </a:solidFill>
                <a:latin typeface="Arial"/>
              </a:defRPr>
            </a:pPr>
            <a:r>
              <a:t>   Inspectors had no automated means to check if catches were logged in allowed fishing zones or illegally hauled inside protected breeding and ecotourism grounds.</a:t>
            </a:r>
          </a:p>
          <a:p>
            <a:pPr>
              <a:spcAft>
                <a:spcPts val="600"/>
              </a:spcAft>
              <a:defRPr sz="1400" b="1">
                <a:solidFill>
                  <a:srgbClr val="00F2FE"/>
                </a:solidFill>
                <a:latin typeface="Arial"/>
              </a:defRPr>
            </a:pPr>
            <a:r>
              <a:t>3. Commercial Friction &amp; Price Opacity</a:t>
            </a:r>
          </a:p>
          <a:p>
            <a:pPr>
              <a:spcAft>
                <a:spcPts val="600"/>
              </a:spcAft>
              <a:defRPr sz="1300">
                <a:solidFill>
                  <a:srgbClr val="FFFFFF"/>
                </a:solidFill>
                <a:latin typeface="Arial"/>
              </a:defRPr>
            </a:pPr>
            <a:r>
              <a:t>   Fishers faced highly volatile prices and lacked direct market access, causing delay and inventory loss for their highly perishable catches.</a:t>
            </a:r>
          </a:p>
          <a:p>
            <a:pPr>
              <a:spcAft>
                <a:spcPts val="600"/>
              </a:spcAft>
              <a:defRPr sz="1400" b="1">
                <a:solidFill>
                  <a:srgbClr val="00F2FE"/>
                </a:solidFill>
                <a:latin typeface="Arial"/>
              </a:defRPr>
            </a:pPr>
            <a:r>
              <a:t>4. Prototype Database &amp; Tracing limits</a:t>
            </a:r>
          </a:p>
          <a:p>
            <a:pPr>
              <a:spcAft>
                <a:spcPts val="600"/>
              </a:spcAft>
              <a:defRPr sz="1300">
                <a:solidFill>
                  <a:srgbClr val="FFFFFF"/>
                </a:solidFill>
                <a:latin typeface="Arial"/>
              </a:defRPr>
            </a:pPr>
            <a:r>
              <a:t>   Early application iterations suffered from SQLite write-locking bottlenecks under high-concurrency loads and lacked trace request correlation for operational debugging.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E1E24"/>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2800" b="1">
                <a:solidFill>
                  <a:srgbClr val="00F2FE"/>
                </a:solidFill>
                <a:latin typeface="Arial"/>
              </a:defRPr>
            </a:pPr>
            <a:r>
              <a:t>System Objectives</a:t>
            </a:r>
          </a:p>
        </p:txBody>
      </p:sp>
      <p:sp>
        <p:nvSpPr>
          <p:cNvPr id="3" name="TextBox 2"/>
          <p:cNvSpPr txBox="1"/>
          <p:nvPr/>
        </p:nvSpPr>
        <p:spPr>
          <a:xfrm>
            <a:off x="457200" y="1371600"/>
            <a:ext cx="5486400" cy="4572000"/>
          </a:xfrm>
          <a:prstGeom prst="rect">
            <a:avLst/>
          </a:prstGeom>
          <a:noFill/>
        </p:spPr>
        <p:txBody>
          <a:bodyPr wrap="square">
            <a:spAutoFit/>
          </a:bodyPr>
          <a:lstStyle/>
          <a:p>
            <a:pPr>
              <a:spcAft>
                <a:spcPts val="600"/>
              </a:spcAft>
              <a:defRPr sz="1400" b="1">
                <a:solidFill>
                  <a:srgbClr val="00F2FE"/>
                </a:solidFill>
                <a:latin typeface="Arial"/>
              </a:defRPr>
            </a:pPr>
            <a:r>
              <a:t>Automate Telemetry &amp; Tracking</a:t>
            </a:r>
          </a:p>
          <a:p>
            <a:pPr>
              <a:spcAft>
                <a:spcPts val="600"/>
              </a:spcAft>
              <a:defRPr sz="1300">
                <a:solidFill>
                  <a:srgbClr val="FFFFFF"/>
                </a:solidFill>
                <a:latin typeface="Arial"/>
              </a:defRPr>
            </a:pPr>
            <a:r>
              <a:t>   Log active boat trips and accumulate continuous coordinate coordinates to trace vessel paths on interactive maps.</a:t>
            </a:r>
          </a:p>
          <a:p>
            <a:pPr>
              <a:spcAft>
                <a:spcPts val="600"/>
              </a:spcAft>
              <a:defRPr sz="1400" b="1">
                <a:solidFill>
                  <a:srgbClr val="00F2FE"/>
                </a:solidFill>
                <a:latin typeface="Arial"/>
              </a:defRPr>
            </a:pPr>
            <a:r>
              <a:t>Geospatial Boundary Verification</a:t>
            </a:r>
          </a:p>
          <a:p>
            <a:pPr>
              <a:spcAft>
                <a:spcPts val="600"/>
              </a:spcAft>
              <a:defRPr sz="1300">
                <a:solidFill>
                  <a:srgbClr val="FFFFFF"/>
                </a:solidFill>
                <a:latin typeface="Arial"/>
              </a:defRPr>
            </a:pPr>
            <a:r>
              <a:t>   Implement mathematical polygon checks on incoming catch submissions to enforce protected zones automatically.</a:t>
            </a:r>
          </a:p>
        </p:txBody>
      </p:sp>
      <p:sp>
        <p:nvSpPr>
          <p:cNvPr id="4" name="TextBox 3"/>
          <p:cNvSpPr txBox="1"/>
          <p:nvPr/>
        </p:nvSpPr>
        <p:spPr>
          <a:xfrm>
            <a:off x="6217920" y="1371600"/>
            <a:ext cx="5486400" cy="4572000"/>
          </a:xfrm>
          <a:prstGeom prst="rect">
            <a:avLst/>
          </a:prstGeom>
          <a:noFill/>
        </p:spPr>
        <p:txBody>
          <a:bodyPr wrap="square">
            <a:spAutoFit/>
          </a:bodyPr>
          <a:lstStyle/>
          <a:p>
            <a:pPr>
              <a:spcAft>
                <a:spcPts val="600"/>
              </a:spcAft>
              <a:defRPr sz="1400" b="1">
                <a:solidFill>
                  <a:srgbClr val="00F2FE"/>
                </a:solidFill>
                <a:latin typeface="Arial"/>
              </a:defRPr>
            </a:pPr>
            <a:r>
              <a:t>Enforce Active Species Quotas</a:t>
            </a:r>
          </a:p>
          <a:p>
            <a:pPr>
              <a:spcAft>
                <a:spcPts val="600"/>
              </a:spcAft>
              <a:defRPr sz="1300">
                <a:solidFill>
                  <a:srgbClr val="FFFFFF"/>
                </a:solidFill>
                <a:latin typeface="Arial"/>
              </a:defRPr>
            </a:pPr>
            <a:r>
              <a:t>   Halt catches approval at the application level inside database write transactions if monthly limits are breached.</a:t>
            </a:r>
          </a:p>
          <a:p>
            <a:pPr>
              <a:spcAft>
                <a:spcPts val="600"/>
              </a:spcAft>
              <a:defRPr sz="1400" b="1">
                <a:solidFill>
                  <a:srgbClr val="00F2FE"/>
                </a:solidFill>
                <a:latin typeface="Arial"/>
              </a:defRPr>
            </a:pPr>
            <a:r>
              <a:t>Production Hardening</a:t>
            </a:r>
          </a:p>
          <a:p>
            <a:pPr>
              <a:spcAft>
                <a:spcPts val="600"/>
              </a:spcAft>
              <a:defRPr sz="1300">
                <a:solidFill>
                  <a:srgbClr val="FFFFFF"/>
                </a:solidFill>
                <a:latin typeface="Arial"/>
              </a:defRPr>
            </a:pPr>
            <a:r>
              <a:t>   Deploy request trace correlation, session capping, failed login lockouts, and deep detailed diagnostic heartbeats.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E1E24"/>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2800" b="1">
                <a:solidFill>
                  <a:srgbClr val="00F2FE"/>
                </a:solidFill>
                <a:latin typeface="Arial"/>
              </a:defRPr>
            </a:pPr>
            <a:r>
              <a:t>Tech Stack &amp; System Layers</a:t>
            </a:r>
          </a:p>
        </p:txBody>
      </p:sp>
      <p:sp>
        <p:nvSpPr>
          <p:cNvPr id="3" name="TextBox 2"/>
          <p:cNvSpPr txBox="1"/>
          <p:nvPr/>
        </p:nvSpPr>
        <p:spPr>
          <a:xfrm>
            <a:off x="457200" y="1188720"/>
            <a:ext cx="11277295" cy="5029200"/>
          </a:xfrm>
          <a:prstGeom prst="rect">
            <a:avLst/>
          </a:prstGeom>
          <a:noFill/>
        </p:spPr>
        <p:txBody>
          <a:bodyPr wrap="square">
            <a:spAutoFit/>
          </a:bodyPr>
          <a:lstStyle/>
          <a:p>
            <a:pPr>
              <a:spcAft>
                <a:spcPts val="600"/>
              </a:spcAft>
              <a:defRPr sz="1100" b="1">
                <a:solidFill>
                  <a:srgbClr val="00F2FE"/>
                </a:solidFill>
                <a:latin typeface="Arial"/>
              </a:defRPr>
            </a:pPr>
            <a:r>
              <a:t>1. UI Presentation Layer</a:t>
            </a:r>
          </a:p>
          <a:p>
            <a:pPr>
              <a:spcAft>
                <a:spcPts val="600"/>
              </a:spcAft>
              <a:defRPr sz="1000">
                <a:solidFill>
                  <a:srgbClr val="FFFFFF"/>
                </a:solidFill>
                <a:latin typeface="Arial"/>
              </a:defRPr>
            </a:pPr>
            <a:r>
              <a:t>   React.js Single Page Applications built on Vite for rapid compilation. Styled with custom modular CSS and Leaflet maps layers.</a:t>
            </a:r>
          </a:p>
          <a:p>
            <a:pPr>
              <a:spcAft>
                <a:spcPts val="400"/>
              </a:spcAft>
              <a:defRPr sz="900">
                <a:solidFill>
                  <a:srgbClr val="B4B8C4"/>
                </a:solidFill>
                <a:latin typeface="Arial"/>
              </a:defRPr>
            </a:pPr>
            <a:r>
              <a:t>     • Leaflet &amp; OpenStreetMap for telemetry</a:t>
            </a:r>
          </a:p>
          <a:p>
            <a:pPr>
              <a:spcAft>
                <a:spcPts val="400"/>
              </a:spcAft>
              <a:defRPr sz="900">
                <a:solidFill>
                  <a:srgbClr val="B4B8C4"/>
                </a:solidFill>
                <a:latin typeface="Arial"/>
              </a:defRPr>
            </a:pPr>
            <a:r>
              <a:t>     • i18n Amharic + English localizations</a:t>
            </a:r>
          </a:p>
          <a:p>
            <a:pPr>
              <a:spcAft>
                <a:spcPts val="600"/>
              </a:spcAft>
              <a:defRPr sz="1100" b="1">
                <a:solidFill>
                  <a:srgbClr val="00F2FE"/>
                </a:solidFill>
                <a:latin typeface="Arial"/>
              </a:defRPr>
            </a:pPr>
            <a:r>
              <a:t>2. Web Server &amp; Connection Layer</a:t>
            </a:r>
          </a:p>
          <a:p>
            <a:pPr>
              <a:spcAft>
                <a:spcPts val="600"/>
              </a:spcAft>
              <a:defRPr sz="1000">
                <a:solidFill>
                  <a:srgbClr val="FFFFFF"/>
                </a:solidFill>
                <a:latin typeface="Arial"/>
              </a:defRPr>
            </a:pPr>
            <a:r>
              <a:t>   Node.js and Express.js backend handling REST JSON communications and persistent SSE (Server-Sent Events) unidirectional data pipelines.</a:t>
            </a:r>
          </a:p>
          <a:p>
            <a:pPr>
              <a:spcAft>
                <a:spcPts val="400"/>
              </a:spcAft>
              <a:defRPr sz="900">
                <a:solidFill>
                  <a:srgbClr val="B4B8C4"/>
                </a:solidFill>
                <a:latin typeface="Arial"/>
              </a:defRPr>
            </a:pPr>
            <a:r>
              <a:t>     • Pino-HTTP correlation requests tracing</a:t>
            </a:r>
          </a:p>
          <a:p>
            <a:pPr>
              <a:spcAft>
                <a:spcPts val="400"/>
              </a:spcAft>
              <a:defRPr sz="900">
                <a:solidFill>
                  <a:srgbClr val="B4B8C4"/>
                </a:solidFill>
                <a:latin typeface="Arial"/>
              </a:defRPr>
            </a:pPr>
            <a:r>
              <a:t>     • Helmet production security headers</a:t>
            </a:r>
          </a:p>
          <a:p>
            <a:pPr>
              <a:spcAft>
                <a:spcPts val="600"/>
              </a:spcAft>
              <a:defRPr sz="1100" b="1">
                <a:solidFill>
                  <a:srgbClr val="00F2FE"/>
                </a:solidFill>
                <a:latin typeface="Arial"/>
              </a:defRPr>
            </a:pPr>
            <a:r>
              <a:t>3. Business Service &amp; Security Layer</a:t>
            </a:r>
          </a:p>
          <a:p>
            <a:pPr>
              <a:spcAft>
                <a:spcPts val="600"/>
              </a:spcAft>
              <a:defRPr sz="1000">
                <a:solidFill>
                  <a:srgbClr val="FFFFFF"/>
                </a:solidFill>
                <a:latin typeface="Arial"/>
              </a:defRPr>
            </a:pPr>
            <a:r>
              <a:t>   Independent service modules managing cryptographic locks, mathematical coordinates checks, and schema transactions.</a:t>
            </a:r>
          </a:p>
          <a:p>
            <a:pPr>
              <a:spcAft>
                <a:spcPts val="400"/>
              </a:spcAft>
              <a:defRPr sz="900">
                <a:solidFill>
                  <a:srgbClr val="B4B8C4"/>
                </a:solidFill>
                <a:latin typeface="Arial"/>
              </a:defRPr>
            </a:pPr>
            <a:r>
              <a:t>     • Bcryptjs with 12 salt rounds</a:t>
            </a:r>
          </a:p>
          <a:p>
            <a:pPr>
              <a:spcAft>
                <a:spcPts val="400"/>
              </a:spcAft>
              <a:defRPr sz="900">
                <a:solidFill>
                  <a:srgbClr val="B4B8C4"/>
                </a:solidFill>
                <a:latin typeface="Arial"/>
              </a:defRPr>
            </a:pPr>
            <a:r>
              <a:t>     • HS256 access JWT + SHA-256 rotated refresh tokens</a:t>
            </a:r>
          </a:p>
          <a:p>
            <a:pPr>
              <a:spcAft>
                <a:spcPts val="600"/>
              </a:spcAft>
              <a:defRPr sz="1100" b="1">
                <a:solidFill>
                  <a:srgbClr val="00F2FE"/>
                </a:solidFill>
                <a:latin typeface="Arial"/>
              </a:defRPr>
            </a:pPr>
            <a:r>
              <a:t>4. Relational Database Tier</a:t>
            </a:r>
          </a:p>
          <a:p>
            <a:pPr>
              <a:spcAft>
                <a:spcPts val="600"/>
              </a:spcAft>
              <a:defRPr sz="1000">
                <a:solidFill>
                  <a:srgbClr val="FFFFFF"/>
                </a:solidFill>
                <a:latin typeface="Arial"/>
              </a:defRPr>
            </a:pPr>
            <a:r>
              <a:t>   PostgreSQL database accessed exclusively through the type-safe Prisma ORM Client, utilizing connection poolers and Cloudinary media buckets.</a:t>
            </a:r>
          </a:p>
          <a:p>
            <a:pPr>
              <a:spcAft>
                <a:spcPts val="400"/>
              </a:spcAft>
              <a:defRPr sz="900">
                <a:solidFill>
                  <a:srgbClr val="B4B8C4"/>
                </a:solidFill>
                <a:latin typeface="Arial"/>
              </a:defRPr>
            </a:pPr>
            <a:r>
              <a:t>     • Neon/Render serverless PostgreSQL</a:t>
            </a:r>
          </a:p>
          <a:p>
            <a:pPr>
              <a:spcAft>
                <a:spcPts val="400"/>
              </a:spcAft>
              <a:defRPr sz="900">
                <a:solidFill>
                  <a:srgbClr val="B4B8C4"/>
                </a:solidFill>
                <a:latin typeface="Arial"/>
              </a:defRPr>
            </a:pPr>
            <a:r>
              <a:t>     • Prisma Client atomic transactions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E1E24"/>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2800" b="1">
                <a:solidFill>
                  <a:srgbClr val="00F2FE"/>
                </a:solidFill>
                <a:latin typeface="Arial"/>
              </a:defRPr>
            </a:pPr>
            <a:r>
              <a:t>System Data Flow Architecture</a:t>
            </a:r>
          </a:p>
        </p:txBody>
      </p:sp>
      <p:sp>
        <p:nvSpPr>
          <p:cNvPr id="3" name="TextBox 2"/>
          <p:cNvSpPr txBox="1"/>
          <p:nvPr/>
        </p:nvSpPr>
        <p:spPr>
          <a:xfrm>
            <a:off x="457200" y="1188720"/>
            <a:ext cx="5486400" cy="5029200"/>
          </a:xfrm>
          <a:prstGeom prst="rect">
            <a:avLst/>
          </a:prstGeom>
          <a:noFill/>
        </p:spPr>
        <p:txBody>
          <a:bodyPr wrap="square">
            <a:spAutoFit/>
          </a:bodyPr>
          <a:lstStyle/>
          <a:p>
            <a:pPr>
              <a:spcAft>
                <a:spcPts val="600"/>
              </a:spcAft>
              <a:defRPr sz="1100" b="1">
                <a:solidFill>
                  <a:srgbClr val="00F2FE"/>
                </a:solidFill>
                <a:latin typeface="Arial"/>
              </a:defRPr>
            </a:pPr>
            <a:r>
              <a:t>Step 1: Active Trip Activation</a:t>
            </a:r>
          </a:p>
          <a:p>
            <a:pPr>
              <a:spcAft>
                <a:spcPts val="600"/>
              </a:spcAft>
              <a:defRPr sz="1000">
                <a:solidFill>
                  <a:srgbClr val="FFFFFF"/>
                </a:solidFill>
                <a:latin typeface="Arial"/>
              </a:defRPr>
            </a:pPr>
            <a:r>
              <a:t>   Fisher registers and activates a boat trip, launching telemetry trackers.</a:t>
            </a:r>
          </a:p>
          <a:p>
            <a:pPr>
              <a:spcAft>
                <a:spcPts val="600"/>
              </a:spcAft>
              <a:defRPr sz="1100" b="1">
                <a:solidFill>
                  <a:srgbClr val="00F2FE"/>
                </a:solidFill>
                <a:latin typeface="Arial"/>
              </a:defRPr>
            </a:pPr>
            <a:r>
              <a:t>Step 2: Catch logging &amp; Coordinates verification</a:t>
            </a:r>
          </a:p>
          <a:p>
            <a:pPr>
              <a:spcAft>
                <a:spcPts val="600"/>
              </a:spcAft>
              <a:defRPr sz="1000">
                <a:solidFill>
                  <a:srgbClr val="FFFFFF"/>
                </a:solidFill>
                <a:latin typeface="Arial"/>
              </a:defRPr>
            </a:pPr>
            <a:r>
              <a:t>   Fisher submits catch weight, species, and gear. Lat/Lng checked by server before setting status to 'PENDING'.</a:t>
            </a:r>
          </a:p>
          <a:p>
            <a:pPr>
              <a:spcAft>
                <a:spcPts val="600"/>
              </a:spcAft>
              <a:defRPr sz="1100" b="1">
                <a:solidFill>
                  <a:srgbClr val="00F2FE"/>
                </a:solidFill>
                <a:latin typeface="Arial"/>
              </a:defRPr>
            </a:pPr>
            <a:r>
              <a:t>Step 3: Administrative transaction review</a:t>
            </a:r>
          </a:p>
          <a:p>
            <a:pPr>
              <a:spcAft>
                <a:spcPts val="600"/>
              </a:spcAft>
              <a:defRPr sz="1000">
                <a:solidFill>
                  <a:srgbClr val="FFFFFF"/>
                </a:solidFill>
                <a:latin typeface="Arial"/>
              </a:defRPr>
            </a:pPr>
            <a:r>
              <a:t>   Admin audits details. System runs species quota verification; if allowed, catch is updated to 'VERIFIED' in a single transaction.</a:t>
            </a:r>
          </a:p>
          <a:p>
            <a:pPr>
              <a:spcAft>
                <a:spcPts val="600"/>
              </a:spcAft>
              <a:defRPr sz="1100" b="1">
                <a:solidFill>
                  <a:srgbClr val="00F2FE"/>
                </a:solidFill>
                <a:latin typeface="Arial"/>
              </a:defRPr>
            </a:pPr>
            <a:r>
              <a:t>Step 4: Real-time listings publishing</a:t>
            </a:r>
          </a:p>
          <a:p>
            <a:pPr>
              <a:spcAft>
                <a:spcPts val="600"/>
              </a:spcAft>
              <a:defRPr sz="1000">
                <a:solidFill>
                  <a:srgbClr val="FFFFFF"/>
                </a:solidFill>
                <a:latin typeface="Arial"/>
              </a:defRPr>
            </a:pPr>
            <a:r>
              <a:t>   Listing is automatically generated. The server broadcasts a 'listing.created' payload instantly to buyers via SSE.</a:t>
            </a:r>
          </a:p>
          <a:p>
            <a:pPr>
              <a:spcAft>
                <a:spcPts val="600"/>
              </a:spcAft>
              <a:defRPr sz="1100" b="1">
                <a:solidFill>
                  <a:srgbClr val="00F2FE"/>
                </a:solidFill>
                <a:latin typeface="Arial"/>
              </a:defRPr>
            </a:pPr>
            <a:r>
              <a:t>Step 5: E-commerce order checkout</a:t>
            </a:r>
          </a:p>
          <a:p>
            <a:pPr>
              <a:spcAft>
                <a:spcPts val="600"/>
              </a:spcAft>
              <a:defRPr sz="1000">
                <a:solidFill>
                  <a:srgbClr val="FFFFFF"/>
                </a:solidFill>
                <a:latin typeface="Arial"/>
              </a:defRPr>
            </a:pPr>
            <a:r>
              <a:t>   Buyer logs in, places order, decrements listing quantity available, and triggers audit log tracking.</a:t>
            </a:r>
          </a:p>
        </p:txBody>
      </p:sp>
      <p:pic>
        <p:nvPicPr>
          <p:cNvPr id="4" name="Picture 3" descr="command_center_home.png"/>
          <p:cNvPicPr>
            <a:picLocks noChangeAspect="1"/>
          </p:cNvPicPr>
          <p:nvPr/>
        </p:nvPicPr>
        <p:blipFill>
          <a:blip r:embed="rId2"/>
          <a:stretch>
            <a:fillRect/>
          </a:stretch>
        </p:blipFill>
        <p:spPr>
          <a:xfrm>
            <a:off x="6217920" y="1463040"/>
            <a:ext cx="5486400" cy="41148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E1E24"/>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2800" b="1">
                <a:solidFill>
                  <a:srgbClr val="00F2FE"/>
                </a:solidFill>
                <a:latin typeface="Arial"/>
              </a:defRPr>
            </a:pPr>
            <a:r>
              <a:t>Geospatial Compliance Verification</a:t>
            </a:r>
          </a:p>
        </p:txBody>
      </p:sp>
      <p:sp>
        <p:nvSpPr>
          <p:cNvPr id="3" name="TextBox 2"/>
          <p:cNvSpPr txBox="1"/>
          <p:nvPr/>
        </p:nvSpPr>
        <p:spPr>
          <a:xfrm>
            <a:off x="457200" y="1188720"/>
            <a:ext cx="5486400" cy="5029200"/>
          </a:xfrm>
          <a:prstGeom prst="rect">
            <a:avLst/>
          </a:prstGeom>
          <a:noFill/>
        </p:spPr>
        <p:txBody>
          <a:bodyPr wrap="square">
            <a:spAutoFit/>
          </a:bodyPr>
          <a:lstStyle/>
          <a:p>
            <a:pPr>
              <a:spcAft>
                <a:spcPts val="600"/>
              </a:spcAft>
              <a:defRPr sz="1200" b="1">
                <a:solidFill>
                  <a:srgbClr val="00F2FE"/>
                </a:solidFill>
                <a:latin typeface="Arial"/>
              </a:defRPr>
            </a:pPr>
            <a:r>
              <a:t>Ray-Casting Point-in-Polygon Check</a:t>
            </a:r>
          </a:p>
          <a:p>
            <a:pPr>
              <a:spcAft>
                <a:spcPts val="600"/>
              </a:spcAft>
              <a:defRPr sz="1100">
                <a:solidFill>
                  <a:srgbClr val="FFFFFF"/>
                </a:solidFill>
                <a:latin typeface="Arial"/>
              </a:defRPr>
            </a:pPr>
            <a:r>
              <a:t>   Verifies if the submitted device GPS coordinates fall inside designated allowed, restricted, or prohibited zone boundary polygons.</a:t>
            </a:r>
          </a:p>
          <a:p>
            <a:pPr>
              <a:spcAft>
                <a:spcPts val="600"/>
              </a:spcAft>
              <a:defRPr sz="1200" b="1">
                <a:solidFill>
                  <a:srgbClr val="00F2FE"/>
                </a:solidFill>
                <a:latin typeface="Arial"/>
              </a:defRPr>
            </a:pPr>
            <a:r>
              <a:t>Haversine Trigonometric Fallback</a:t>
            </a:r>
          </a:p>
          <a:p>
            <a:pPr>
              <a:spcAft>
                <a:spcPts val="600"/>
              </a:spcAft>
              <a:defRPr sz="1100">
                <a:solidFill>
                  <a:srgbClr val="FFFFFF"/>
                </a:solidFill>
                <a:latin typeface="Arial"/>
              </a:defRPr>
            </a:pPr>
            <a:r>
              <a:t>   If polygon vectors are absent, checks distance to center coordinates:</a:t>
            </a:r>
            <a:br/>
            <a:r>
              <a:t>  d = 2R * arcsin( sqrt( sin²(Δlat/2) + cos(lat1)*cos(lat2)*sin²(Δlng/2) ) )</a:t>
            </a:r>
          </a:p>
          <a:p>
            <a:pPr>
              <a:spcAft>
                <a:spcPts val="600"/>
              </a:spcAft>
              <a:defRPr sz="1200" b="1">
                <a:solidFill>
                  <a:srgbClr val="00F2FE"/>
                </a:solidFill>
                <a:latin typeface="Arial"/>
              </a:defRPr>
            </a:pPr>
            <a:r>
              <a:t>Mismatch &amp; Violation Thresholds</a:t>
            </a:r>
          </a:p>
          <a:p>
            <a:pPr>
              <a:spcAft>
                <a:spcPts val="600"/>
              </a:spcAft>
              <a:defRPr sz="1100">
                <a:solidFill>
                  <a:srgbClr val="FFFFFF"/>
                </a:solidFill>
                <a:latin typeface="Arial"/>
              </a:defRPr>
            </a:pPr>
            <a:r>
              <a:t>   Deviations &gt;3 km trigger a 'GPS_MISMATCH' alert. Catch coordinates logged inside restricted or prohibited zones spawn immediate system alarms.</a:t>
            </a:r>
          </a:p>
        </p:txBody>
      </p:sp>
      <p:pic>
        <p:nvPicPr>
          <p:cNvPr id="4" name="Picture 3" descr="geospatial_map.png"/>
          <p:cNvPicPr>
            <a:picLocks noChangeAspect="1"/>
          </p:cNvPicPr>
          <p:nvPr/>
        </p:nvPicPr>
        <p:blipFill>
          <a:blip r:embed="rId2"/>
          <a:stretch>
            <a:fillRect/>
          </a:stretch>
        </p:blipFill>
        <p:spPr>
          <a:xfrm>
            <a:off x="6217920" y="1463040"/>
            <a:ext cx="5486400" cy="41148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E1E24"/>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2800" b="1">
                <a:solidFill>
                  <a:srgbClr val="00F2FE"/>
                </a:solidFill>
                <a:latin typeface="Arial"/>
              </a:defRPr>
            </a:pPr>
            <a:r>
              <a:t>Quota Preservation &amp; Closed Seasons</a:t>
            </a:r>
          </a:p>
        </p:txBody>
      </p:sp>
      <p:sp>
        <p:nvSpPr>
          <p:cNvPr id="3" name="TextBox 2"/>
          <p:cNvSpPr txBox="1"/>
          <p:nvPr/>
        </p:nvSpPr>
        <p:spPr>
          <a:xfrm>
            <a:off x="457200" y="1188720"/>
            <a:ext cx="5486400" cy="5029200"/>
          </a:xfrm>
          <a:prstGeom prst="rect">
            <a:avLst/>
          </a:prstGeom>
          <a:noFill/>
        </p:spPr>
        <p:txBody>
          <a:bodyPr wrap="square">
            <a:spAutoFit/>
          </a:bodyPr>
          <a:lstStyle/>
          <a:p>
            <a:pPr>
              <a:spcAft>
                <a:spcPts val="600"/>
              </a:spcAft>
              <a:defRPr sz="1300" b="1">
                <a:solidFill>
                  <a:srgbClr val="00F2FE"/>
                </a:solidFill>
                <a:latin typeface="Arial"/>
              </a:defRPr>
            </a:pPr>
            <a:r>
              <a:t>ACID transactional limits checking</a:t>
            </a:r>
          </a:p>
          <a:p>
            <a:pPr>
              <a:spcAft>
                <a:spcPts val="600"/>
              </a:spcAft>
              <a:defRPr sz="1200">
                <a:solidFill>
                  <a:srgbClr val="FFFFFF"/>
                </a:solidFill>
                <a:latin typeface="Arial"/>
              </a:defRPr>
            </a:pPr>
            <a:r>
              <a:t>   Catches approvals are blocked ('HTTP 409 Conflict') before database commits if aggregate monthly species limit is breached.</a:t>
            </a:r>
          </a:p>
          <a:p>
            <a:pPr>
              <a:spcAft>
                <a:spcPts val="600"/>
              </a:spcAft>
              <a:defRPr sz="1300" b="1">
                <a:solidFill>
                  <a:srgbClr val="00F2FE"/>
                </a:solidFill>
                <a:latin typeface="Arial"/>
              </a:defRPr>
            </a:pPr>
            <a:r>
              <a:t>Automated species warnings</a:t>
            </a:r>
          </a:p>
          <a:p>
            <a:pPr>
              <a:spcAft>
                <a:spcPts val="600"/>
              </a:spcAft>
              <a:defRPr sz="1200">
                <a:solidFill>
                  <a:srgbClr val="FFFFFF"/>
                </a:solidFill>
                <a:latin typeface="Arial"/>
              </a:defRPr>
            </a:pPr>
            <a:r>
              <a:t>   Emits warnings and broadcasts events once catch weight reaches 90% of the species monthly limit.</a:t>
            </a:r>
          </a:p>
          <a:p>
            <a:pPr>
              <a:spcAft>
                <a:spcPts val="600"/>
              </a:spcAft>
              <a:defRPr sz="1300" b="1">
                <a:solidFill>
                  <a:srgbClr val="00F2FE"/>
                </a:solidFill>
                <a:latin typeface="Arial"/>
              </a:defRPr>
            </a:pPr>
            <a:r>
              <a:t>Ecological closed-seasons rules</a:t>
            </a:r>
          </a:p>
          <a:p>
            <a:pPr>
              <a:spcAft>
                <a:spcPts val="600"/>
              </a:spcAft>
              <a:defRPr sz="1200">
                <a:solidFill>
                  <a:srgbClr val="FFFFFF"/>
                </a:solidFill>
                <a:latin typeface="Arial"/>
              </a:defRPr>
            </a:pPr>
            <a:r>
              <a:t>   Dynamic zone season rules block approvals of protected species during spawning calendar ranges (e.g. Mecha closed zone rules).</a:t>
            </a:r>
          </a:p>
        </p:txBody>
      </p:sp>
      <p:pic>
        <p:nvPicPr>
          <p:cNvPr id="4" name="Picture 3" descr="quota_approval.png"/>
          <p:cNvPicPr>
            <a:picLocks noChangeAspect="1"/>
          </p:cNvPicPr>
          <p:nvPr/>
        </p:nvPicPr>
        <p:blipFill>
          <a:blip r:embed="rId2"/>
          <a:stretch>
            <a:fillRect/>
          </a:stretch>
        </p:blipFill>
        <p:spPr>
          <a:xfrm>
            <a:off x="6217920" y="1463040"/>
            <a:ext cx="5486400" cy="41148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E1E24"/>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2800" b="1">
                <a:solidFill>
                  <a:srgbClr val="00F2FE"/>
                </a:solidFill>
                <a:latin typeface="Arial"/>
              </a:defRPr>
            </a:pPr>
            <a:r>
              <a:t>My Personal Contributions</a:t>
            </a:r>
          </a:p>
        </p:txBody>
      </p:sp>
      <p:sp>
        <p:nvSpPr>
          <p:cNvPr id="3" name="TextBox 2"/>
          <p:cNvSpPr txBox="1"/>
          <p:nvPr/>
        </p:nvSpPr>
        <p:spPr>
          <a:xfrm>
            <a:off x="457200" y="1188720"/>
            <a:ext cx="5486400" cy="5029200"/>
          </a:xfrm>
          <a:prstGeom prst="rect">
            <a:avLst/>
          </a:prstGeom>
          <a:noFill/>
        </p:spPr>
        <p:txBody>
          <a:bodyPr wrap="square">
            <a:spAutoFit/>
          </a:bodyPr>
          <a:lstStyle/>
          <a:p>
            <a:pPr>
              <a:spcAft>
                <a:spcPts val="600"/>
              </a:spcAft>
              <a:defRPr sz="1100" b="1">
                <a:solidFill>
                  <a:srgbClr val="00F2FE"/>
                </a:solidFill>
                <a:latin typeface="Arial"/>
              </a:defRPr>
            </a:pPr>
            <a:r>
              <a:t>Relational PostgreSQL Schema Migration</a:t>
            </a:r>
          </a:p>
          <a:p>
            <a:pPr>
              <a:spcAft>
                <a:spcPts val="600"/>
              </a:spcAft>
              <a:defRPr sz="1000">
                <a:solidFill>
                  <a:srgbClr val="FFFFFF"/>
                </a:solidFill>
                <a:latin typeface="Arial"/>
              </a:defRPr>
            </a:pPr>
            <a:r>
              <a:t>   Designed, mapped, and executed complete migrations from SQLite to PostgreSQL database tables via Prisma ORM.</a:t>
            </a:r>
          </a:p>
          <a:p>
            <a:pPr>
              <a:spcAft>
                <a:spcPts val="600"/>
              </a:spcAft>
              <a:defRPr sz="1100" b="1">
                <a:solidFill>
                  <a:srgbClr val="00F2FE"/>
                </a:solidFill>
                <a:latin typeface="Arial"/>
              </a:defRPr>
            </a:pPr>
            <a:r>
              <a:t>Token Rotation &amp; Lockout Security</a:t>
            </a:r>
          </a:p>
          <a:p>
            <a:pPr>
              <a:spcAft>
                <a:spcPts val="600"/>
              </a:spcAft>
              <a:defRPr sz="1000">
                <a:solidFill>
                  <a:srgbClr val="FFFFFF"/>
                </a:solidFill>
                <a:latin typeface="Arial"/>
              </a:defRPr>
            </a:pPr>
            <a:r>
              <a:t>   Coded HS256 JWT access controls and SHA-256 hashed refresh-token rotations, enforcing a cap of 5 active sessions per user and failed attempt lockouts.</a:t>
            </a:r>
          </a:p>
          <a:p>
            <a:pPr>
              <a:spcAft>
                <a:spcPts val="600"/>
              </a:spcAft>
              <a:defRPr sz="1100" b="1">
                <a:solidFill>
                  <a:srgbClr val="00F2FE"/>
                </a:solidFill>
                <a:latin typeface="Arial"/>
              </a:defRPr>
            </a:pPr>
            <a:r>
              <a:t>Mathematical Geospatial Engine</a:t>
            </a:r>
          </a:p>
          <a:p>
            <a:pPr>
              <a:spcAft>
                <a:spcPts val="600"/>
              </a:spcAft>
              <a:defRPr sz="1000">
                <a:solidFill>
                  <a:srgbClr val="FFFFFF"/>
                </a:solidFill>
                <a:latin typeface="Arial"/>
              </a:defRPr>
            </a:pPr>
            <a:r>
              <a:t>   Developed Point-in-Polygon calculations and Haversine center checking in 'geo.service.js' to identify border mismatch warnings.</a:t>
            </a:r>
          </a:p>
          <a:p>
            <a:pPr>
              <a:spcAft>
                <a:spcPts val="600"/>
              </a:spcAft>
              <a:defRPr sz="1100" b="1">
                <a:solidFill>
                  <a:srgbClr val="00F2FE"/>
                </a:solidFill>
                <a:latin typeface="Arial"/>
              </a:defRPr>
            </a:pPr>
            <a:r>
              <a:t>Diagnostics endpoint implementation</a:t>
            </a:r>
          </a:p>
          <a:p>
            <a:pPr>
              <a:spcAft>
                <a:spcPts val="600"/>
              </a:spcAft>
              <a:defRPr sz="1000">
                <a:solidFill>
                  <a:srgbClr val="FFFFFF"/>
                </a:solidFill>
                <a:latin typeface="Arial"/>
              </a:defRPr>
            </a:pPr>
            <a:r>
              <a:t>   Wrote '/api/health/detailed' assessing memory footprint, host uptime, server storage directories, and database pings.</a:t>
            </a:r>
          </a:p>
        </p:txBody>
      </p:sp>
      <p:pic>
        <p:nvPicPr>
          <p:cNvPr id="4" name="Picture 3" descr="detailed_health.png"/>
          <p:cNvPicPr>
            <a:picLocks noChangeAspect="1"/>
          </p:cNvPicPr>
          <p:nvPr/>
        </p:nvPicPr>
        <p:blipFill>
          <a:blip r:embed="rId2"/>
          <a:stretch>
            <a:fillRect/>
          </a:stretch>
        </p:blipFill>
        <p:spPr>
          <a:xfrm>
            <a:off x="6217920" y="1645920"/>
            <a:ext cx="5486400" cy="347472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2A2C35"/>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2800" b="1">
                <a:solidFill>
                  <a:srgbClr val="00F2FE"/>
                </a:solidFill>
                <a:latin typeface="Arial"/>
              </a:defRPr>
            </a:pPr>
            <a:r>
              <a:t>Technical Challenges Faced</a:t>
            </a:r>
          </a:p>
        </p:txBody>
      </p:sp>
      <p:sp>
        <p:nvSpPr>
          <p:cNvPr id="3" name="TextBox 2"/>
          <p:cNvSpPr txBox="1"/>
          <p:nvPr/>
        </p:nvSpPr>
        <p:spPr>
          <a:xfrm>
            <a:off x="457200" y="1371600"/>
            <a:ext cx="11277295" cy="4754880"/>
          </a:xfrm>
          <a:prstGeom prst="rect">
            <a:avLst/>
          </a:prstGeom>
          <a:noFill/>
        </p:spPr>
        <p:txBody>
          <a:bodyPr wrap="square">
            <a:spAutoFit/>
          </a:bodyPr>
          <a:lstStyle/>
          <a:p>
            <a:pPr>
              <a:spcAft>
                <a:spcPts val="600"/>
              </a:spcAft>
              <a:defRPr sz="1300" b="1">
                <a:solidFill>
                  <a:srgbClr val="00F2FE"/>
                </a:solidFill>
                <a:latin typeface="Arial"/>
              </a:defRPr>
            </a:pPr>
            <a:r>
              <a:t>1. Concurrency bottlenecks on SQLite</a:t>
            </a:r>
          </a:p>
          <a:p>
            <a:pPr>
              <a:spcAft>
                <a:spcPts val="600"/>
              </a:spcAft>
              <a:defRPr sz="1200">
                <a:solidFill>
                  <a:srgbClr val="FFFFFF"/>
                </a:solidFill>
                <a:latin typeface="Arial"/>
              </a:defRPr>
            </a:pPr>
            <a:r>
              <a:t>   During live concurrent testing with automated seed inputs, SQLite's single-write locks caused API transaction failures and timeout errors.</a:t>
            </a:r>
          </a:p>
          <a:p>
            <a:pPr>
              <a:spcAft>
                <a:spcPts val="600"/>
              </a:spcAft>
              <a:defRPr sz="1300" b="1">
                <a:solidFill>
                  <a:srgbClr val="00F2FE"/>
                </a:solidFill>
                <a:latin typeface="Arial"/>
              </a:defRPr>
            </a:pPr>
            <a:r>
              <a:t>2. Unbounded Session token storage footprint</a:t>
            </a:r>
          </a:p>
          <a:p>
            <a:pPr>
              <a:spcAft>
                <a:spcPts val="600"/>
              </a:spcAft>
              <a:defRPr sz="1200">
                <a:solidFill>
                  <a:srgbClr val="FFFFFF"/>
                </a:solidFill>
                <a:latin typeface="Arial"/>
              </a:defRPr>
            </a:pPr>
            <a:r>
              <a:t>   Issuing a refresh token on every login created storage bloat risks over time, calling for a secure session-cap limit.</a:t>
            </a:r>
          </a:p>
          <a:p>
            <a:pPr>
              <a:spcAft>
                <a:spcPts val="600"/>
              </a:spcAft>
              <a:defRPr sz="1300" b="1">
                <a:solidFill>
                  <a:srgbClr val="00F2FE"/>
                </a:solidFill>
                <a:latin typeface="Arial"/>
              </a:defRPr>
            </a:pPr>
            <a:r>
              <a:t>3. Unstable SSE connection streams</a:t>
            </a:r>
          </a:p>
          <a:p>
            <a:pPr>
              <a:spcAft>
                <a:spcPts val="600"/>
              </a:spcAft>
              <a:defRPr sz="1200">
                <a:solidFill>
                  <a:srgbClr val="FFFFFF"/>
                </a:solidFill>
                <a:latin typeface="Arial"/>
              </a:defRPr>
            </a:pPr>
            <a:r>
              <a:t>   Fishers operating in remote Rift Valley regions faced frequent network drops, triggering client connection resets and missing real-time event alerts.</a:t>
            </a:r>
          </a:p>
          <a:p>
            <a:pPr>
              <a:spcAft>
                <a:spcPts val="600"/>
              </a:spcAft>
              <a:defRPr sz="1300" b="1">
                <a:solidFill>
                  <a:srgbClr val="00F2FE"/>
                </a:solidFill>
                <a:latin typeface="Arial"/>
              </a:defRPr>
            </a:pPr>
            <a:r>
              <a:t>4. High GIS Database Overhead</a:t>
            </a:r>
          </a:p>
          <a:p>
            <a:pPr>
              <a:spcAft>
                <a:spcPts val="600"/>
              </a:spcAft>
              <a:defRPr sz="1200">
                <a:solidFill>
                  <a:srgbClr val="FFFFFF"/>
                </a:solidFill>
                <a:latin typeface="Arial"/>
              </a:defRPr>
            </a:pPr>
            <a:r>
              <a:t>   Setting up complete PostGIS extensions was heavy and complex for localized lake boundary validation, demanding lightweight computational math.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E1E24"/>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2800" b="1">
                <a:solidFill>
                  <a:srgbClr val="00F2FE"/>
                </a:solidFill>
                <a:latin typeface="Arial"/>
              </a:defRPr>
            </a:pPr>
            <a:r>
              <a:t>Solutions Implemented</a:t>
            </a:r>
          </a:p>
        </p:txBody>
      </p:sp>
      <p:sp>
        <p:nvSpPr>
          <p:cNvPr id="3" name="TextBox 2"/>
          <p:cNvSpPr txBox="1"/>
          <p:nvPr/>
        </p:nvSpPr>
        <p:spPr>
          <a:xfrm>
            <a:off x="457200" y="1371600"/>
            <a:ext cx="11277295" cy="4754880"/>
          </a:xfrm>
          <a:prstGeom prst="rect">
            <a:avLst/>
          </a:prstGeom>
          <a:noFill/>
        </p:spPr>
        <p:txBody>
          <a:bodyPr wrap="square">
            <a:spAutoFit/>
          </a:bodyPr>
          <a:lstStyle/>
          <a:p>
            <a:pPr>
              <a:spcAft>
                <a:spcPts val="600"/>
              </a:spcAft>
              <a:defRPr sz="1300" b="1">
                <a:solidFill>
                  <a:srgbClr val="00F2FE"/>
                </a:solidFill>
                <a:latin typeface="Arial"/>
              </a:defRPr>
            </a:pPr>
            <a:r>
              <a:t> ACID-compliant PostgreSQL via Prisma</a:t>
            </a:r>
          </a:p>
          <a:p>
            <a:pPr>
              <a:spcAft>
                <a:spcPts val="600"/>
              </a:spcAft>
              <a:defRPr sz="1200">
                <a:solidFill>
                  <a:srgbClr val="FFFFFF"/>
                </a:solidFill>
                <a:latin typeface="Arial"/>
              </a:defRPr>
            </a:pPr>
            <a:r>
              <a:t>   Migrated backend database services to PostgreSQL utilizing Prisma Client connection poolers and transactional write isolations to resolve concurrent timeouts.</a:t>
            </a:r>
          </a:p>
          <a:p>
            <a:pPr>
              <a:spcAft>
                <a:spcPts val="600"/>
              </a:spcAft>
              <a:defRPr sz="1300" b="1">
                <a:solidFill>
                  <a:srgbClr val="00F2FE"/>
                </a:solidFill>
                <a:latin typeface="Arial"/>
              </a:defRPr>
            </a:pPr>
            <a:r>
              <a:t> Token session capping &amp; lockout rules</a:t>
            </a:r>
          </a:p>
          <a:p>
            <a:pPr>
              <a:spcAft>
                <a:spcPts val="600"/>
              </a:spcAft>
              <a:defRPr sz="1200">
                <a:solidFill>
                  <a:srgbClr val="FFFFFF"/>
                </a:solidFill>
                <a:latin typeface="Arial"/>
              </a:defRPr>
            </a:pPr>
            <a:r>
              <a:t>   Seeded a strict threshold of 5 active sessions per user; newer logins revoke oldest tokens. Lockouts trigger for 15 minutes after 5 failed login attempts.</a:t>
            </a:r>
          </a:p>
          <a:p>
            <a:pPr>
              <a:spcAft>
                <a:spcPts val="600"/>
              </a:spcAft>
              <a:defRPr sz="1300" b="1">
                <a:solidFill>
                  <a:srgbClr val="00F2FE"/>
                </a:solidFill>
                <a:latin typeface="Arial"/>
              </a:defRPr>
            </a:pPr>
            <a:r>
              <a:t> Self-healing 'Last-Event-ID' stream recovery</a:t>
            </a:r>
          </a:p>
          <a:p>
            <a:pPr>
              <a:spcAft>
                <a:spcPts val="600"/>
              </a:spcAft>
              <a:defRPr sz="1200">
                <a:solidFill>
                  <a:srgbClr val="FFFFFF"/>
                </a:solidFill>
                <a:latin typeface="Arial"/>
              </a:defRPr>
            </a:pPr>
            <a:r>
              <a:t>   Configured SSE stream clients to send a connection header query containing their last processed event ID. Upon reconnection, server queries the database and restream only missed events chronologically.</a:t>
            </a:r>
          </a:p>
          <a:p>
            <a:pPr>
              <a:spcAft>
                <a:spcPts val="600"/>
              </a:spcAft>
              <a:defRPr sz="1300" b="1">
                <a:solidFill>
                  <a:srgbClr val="00F2FE"/>
                </a:solidFill>
                <a:latin typeface="Arial"/>
              </a:defRPr>
            </a:pPr>
            <a:r>
              <a:t> Runtime Point-in-Polygon check computations</a:t>
            </a:r>
          </a:p>
          <a:p>
            <a:pPr>
              <a:spcAft>
                <a:spcPts val="600"/>
              </a:spcAft>
              <a:defRPr sz="1200">
                <a:solidFill>
                  <a:srgbClr val="FFFFFF"/>
                </a:solidFill>
                <a:latin typeface="Arial"/>
              </a:defRPr>
            </a:pPr>
            <a:r>
              <a:t>   Coded Ray-Casting algorithm directly inside the Node runtime context ('geo.service.js'), allowing lightweight zone validation without PostGIS database dependencies.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E1E24"/>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2800" b="1">
                <a:solidFill>
                  <a:srgbClr val="00F2FE"/>
                </a:solidFill>
                <a:latin typeface="Arial"/>
              </a:defRPr>
            </a:pPr>
            <a:r>
              <a:t>Demonstration Workflow</a:t>
            </a:r>
          </a:p>
        </p:txBody>
      </p:sp>
      <p:sp>
        <p:nvSpPr>
          <p:cNvPr id="3" name="TextBox 2"/>
          <p:cNvSpPr txBox="1"/>
          <p:nvPr/>
        </p:nvSpPr>
        <p:spPr>
          <a:xfrm>
            <a:off x="457200" y="1188720"/>
            <a:ext cx="4114800" cy="5029200"/>
          </a:xfrm>
          <a:prstGeom prst="rect">
            <a:avLst/>
          </a:prstGeom>
          <a:noFill/>
        </p:spPr>
        <p:txBody>
          <a:bodyPr wrap="square">
            <a:spAutoFit/>
          </a:bodyPr>
          <a:lstStyle/>
          <a:p>
            <a:pPr>
              <a:spcAft>
                <a:spcPts val="600"/>
              </a:spcAft>
              <a:defRPr sz="1100" b="1">
                <a:solidFill>
                  <a:srgbClr val="00F2FE"/>
                </a:solidFill>
                <a:latin typeface="Arial"/>
              </a:defRPr>
            </a:pPr>
            <a:r>
              <a:t>1. secure Mobile Login</a:t>
            </a:r>
          </a:p>
          <a:p>
            <a:pPr>
              <a:spcAft>
                <a:spcPts val="600"/>
              </a:spcAft>
              <a:defRPr sz="1000">
                <a:solidFill>
                  <a:srgbClr val="FFFFFF"/>
                </a:solidFill>
                <a:latin typeface="Arial"/>
              </a:defRPr>
            </a:pPr>
            <a:r>
              <a:t>   Fisher logs into mobile application using VALID license parameters.</a:t>
            </a:r>
          </a:p>
          <a:p>
            <a:pPr>
              <a:spcAft>
                <a:spcPts val="600"/>
              </a:spcAft>
              <a:defRPr sz="1100" b="1">
                <a:solidFill>
                  <a:srgbClr val="00F2FE"/>
                </a:solidFill>
                <a:latin typeface="Arial"/>
              </a:defRPr>
            </a:pPr>
            <a:r>
              <a:t>2. Boat trip activation</a:t>
            </a:r>
          </a:p>
          <a:p>
            <a:pPr>
              <a:spcAft>
                <a:spcPts val="600"/>
              </a:spcAft>
              <a:defRPr sz="1000">
                <a:solidFill>
                  <a:srgbClr val="FFFFFF"/>
                </a:solidFill>
                <a:latin typeface="Arial"/>
              </a:defRPr>
            </a:pPr>
            <a:r>
              <a:t>   Active trip is started on the vessel, initiating coordinates loggers.</a:t>
            </a:r>
          </a:p>
          <a:p>
            <a:pPr>
              <a:spcAft>
                <a:spcPts val="600"/>
              </a:spcAft>
              <a:defRPr sz="1100" b="1">
                <a:solidFill>
                  <a:srgbClr val="00F2FE"/>
                </a:solidFill>
                <a:latin typeface="Arial"/>
              </a:defRPr>
            </a:pPr>
            <a:r>
              <a:t>3. Catch registration</a:t>
            </a:r>
          </a:p>
          <a:p>
            <a:pPr>
              <a:spcAft>
                <a:spcPts val="600"/>
              </a:spcAft>
              <a:defRPr sz="1000">
                <a:solidFill>
                  <a:srgbClr val="FFFFFF"/>
                </a:solidFill>
                <a:latin typeface="Arial"/>
              </a:defRPr>
            </a:pPr>
            <a:r>
              <a:t>   Submit Tilapia catch from Gorgora Allowed zone; Lng/Lat validated.</a:t>
            </a:r>
          </a:p>
          <a:p>
            <a:pPr>
              <a:spcAft>
                <a:spcPts val="600"/>
              </a:spcAft>
              <a:defRPr sz="1100" b="1">
                <a:solidFill>
                  <a:srgbClr val="00F2FE"/>
                </a:solidFill>
                <a:latin typeface="Arial"/>
              </a:defRPr>
            </a:pPr>
            <a:r>
              <a:t>4. Central Audit &amp; Market</a:t>
            </a:r>
          </a:p>
          <a:p>
            <a:pPr>
              <a:spcAft>
                <a:spcPts val="600"/>
              </a:spcAft>
              <a:defRPr sz="1000">
                <a:solidFill>
                  <a:srgbClr val="FFFFFF"/>
                </a:solidFill>
                <a:latin typeface="Arial"/>
              </a:defRPr>
            </a:pPr>
            <a:r>
              <a:t>   Admin approves catches; digital marketplace listing updates instantly.</a:t>
            </a:r>
          </a:p>
        </p:txBody>
      </p:sp>
      <p:pic>
        <p:nvPicPr>
          <p:cNvPr id="4" name="Picture 3" descr="fisher_login.png"/>
          <p:cNvPicPr>
            <a:picLocks noChangeAspect="1"/>
          </p:cNvPicPr>
          <p:nvPr/>
        </p:nvPicPr>
        <p:blipFill>
          <a:blip r:embed="rId2"/>
          <a:stretch>
            <a:fillRect/>
          </a:stretch>
        </p:blipFill>
        <p:spPr>
          <a:xfrm>
            <a:off x="4846320" y="1645920"/>
            <a:ext cx="1645920" cy="3566160"/>
          </a:xfrm>
          <a:prstGeom prst="rect">
            <a:avLst/>
          </a:prstGeom>
        </p:spPr>
      </p:pic>
      <p:pic>
        <p:nvPicPr>
          <p:cNvPr id="5" name="Picture 4" descr="fisher_app_home.png"/>
          <p:cNvPicPr>
            <a:picLocks noChangeAspect="1"/>
          </p:cNvPicPr>
          <p:nvPr/>
        </p:nvPicPr>
        <p:blipFill>
          <a:blip r:embed="rId3"/>
          <a:stretch>
            <a:fillRect/>
          </a:stretch>
        </p:blipFill>
        <p:spPr>
          <a:xfrm>
            <a:off x="6675120" y="1645920"/>
            <a:ext cx="1645920" cy="3566160"/>
          </a:xfrm>
          <a:prstGeom prst="rect">
            <a:avLst/>
          </a:prstGeom>
        </p:spPr>
      </p:pic>
      <p:pic>
        <p:nvPicPr>
          <p:cNvPr id="6" name="Picture 5" descr="fisher_app_home.png"/>
          <p:cNvPicPr>
            <a:picLocks noChangeAspect="1"/>
          </p:cNvPicPr>
          <p:nvPr/>
        </p:nvPicPr>
        <p:blipFill>
          <a:blip r:embed="rId3"/>
          <a:stretch>
            <a:fillRect/>
          </a:stretch>
        </p:blipFill>
        <p:spPr>
          <a:xfrm>
            <a:off x="8503920" y="1645920"/>
            <a:ext cx="1645920" cy="3566160"/>
          </a:xfrm>
          <a:prstGeom prst="rect">
            <a:avLst/>
          </a:prstGeom>
        </p:spPr>
      </p:pic>
      <p:pic>
        <p:nvPicPr>
          <p:cNvPr id="7" name="Picture 6" descr="marketplace_listings.png"/>
          <p:cNvPicPr>
            <a:picLocks noChangeAspect="1"/>
          </p:cNvPicPr>
          <p:nvPr/>
        </p:nvPicPr>
        <p:blipFill>
          <a:blip r:embed="rId4"/>
          <a:stretch>
            <a:fillRect/>
          </a:stretch>
        </p:blipFill>
        <p:spPr>
          <a:xfrm>
            <a:off x="10332720" y="2011680"/>
            <a:ext cx="1645920" cy="283464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E1E24"/>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2800" b="1">
                <a:solidFill>
                  <a:srgbClr val="00F2FE"/>
                </a:solidFill>
                <a:latin typeface="Arial"/>
              </a:defRPr>
            </a:pPr>
            <a:r>
              <a:t>Technical Lessons Learned</a:t>
            </a:r>
          </a:p>
        </p:txBody>
      </p:sp>
      <p:sp>
        <p:nvSpPr>
          <p:cNvPr id="3" name="TextBox 2"/>
          <p:cNvSpPr txBox="1"/>
          <p:nvPr/>
        </p:nvSpPr>
        <p:spPr>
          <a:xfrm>
            <a:off x="914400" y="1371600"/>
            <a:ext cx="10362895" cy="4572000"/>
          </a:xfrm>
          <a:prstGeom prst="rect">
            <a:avLst/>
          </a:prstGeom>
          <a:noFill/>
        </p:spPr>
        <p:txBody>
          <a:bodyPr wrap="square">
            <a:spAutoFit/>
          </a:bodyPr>
          <a:lstStyle/>
          <a:p>
            <a:pPr>
              <a:spcAft>
                <a:spcPts val="600"/>
              </a:spcAft>
              <a:defRPr sz="1400" b="1">
                <a:solidFill>
                  <a:srgbClr val="00F2FE"/>
                </a:solidFill>
                <a:latin typeface="Arial"/>
              </a:defRPr>
            </a:pPr>
            <a:r>
              <a:t> Database Concurrency &amp; ACID transaction isolations</a:t>
            </a:r>
          </a:p>
          <a:p>
            <a:pPr>
              <a:spcAft>
                <a:spcPts val="600"/>
              </a:spcAft>
              <a:defRPr sz="1300">
                <a:solidFill>
                  <a:srgbClr val="FFFFFF"/>
                </a:solidFill>
                <a:latin typeface="Arial"/>
              </a:defRPr>
            </a:pPr>
            <a:r>
              <a:t>   Discovered the necessity of absolute write isolation when coordinating multi-row quota balances and listing states simultaneously.</a:t>
            </a:r>
          </a:p>
          <a:p>
            <a:pPr>
              <a:spcAft>
                <a:spcPts val="600"/>
              </a:spcAft>
              <a:defRPr sz="1400" b="1">
                <a:solidFill>
                  <a:srgbClr val="00F2FE"/>
                </a:solidFill>
                <a:latin typeface="Arial"/>
              </a:defRPr>
            </a:pPr>
            <a:r>
              <a:t> Stateful Connections Management over SSE pipelines</a:t>
            </a:r>
          </a:p>
          <a:p>
            <a:pPr>
              <a:spcAft>
                <a:spcPts val="600"/>
              </a:spcAft>
              <a:defRPr sz="1300">
                <a:solidFill>
                  <a:srgbClr val="FFFFFF"/>
                </a:solidFill>
                <a:latin typeface="Arial"/>
              </a:defRPr>
            </a:pPr>
            <a:r>
              <a:t>   Learned the performance and architectural trade-offs between full duplex WebSockets and lightweight, unidirectional Server-Sent Events (SSE).</a:t>
            </a:r>
          </a:p>
          <a:p>
            <a:pPr>
              <a:spcAft>
                <a:spcPts val="600"/>
              </a:spcAft>
              <a:defRPr sz="1400" b="1">
                <a:solidFill>
                  <a:srgbClr val="00F2FE"/>
                </a:solidFill>
                <a:latin typeface="Arial"/>
              </a:defRPr>
            </a:pPr>
            <a:r>
              <a:t> Translating Mathematical models into Server code</a:t>
            </a:r>
          </a:p>
          <a:p>
            <a:pPr>
              <a:spcAft>
                <a:spcPts val="600"/>
              </a:spcAft>
              <a:defRPr sz="1300">
                <a:solidFill>
                  <a:srgbClr val="FFFFFF"/>
                </a:solidFill>
                <a:latin typeface="Arial"/>
              </a:defRPr>
            </a:pPr>
            <a:r>
              <a:t>   Implemented geometry polygon containment checks directly inside standard server modules, keeping runtime lightweight.</a:t>
            </a:r>
          </a:p>
          <a:p>
            <a:pPr>
              <a:spcAft>
                <a:spcPts val="600"/>
              </a:spcAft>
              <a:defRPr sz="1400" b="1">
                <a:solidFill>
                  <a:srgbClr val="00F2FE"/>
                </a:solidFill>
                <a:latin typeface="Arial"/>
              </a:defRPr>
            </a:pPr>
            <a:r>
              <a:t> session limits &amp; hashing best practices</a:t>
            </a:r>
          </a:p>
          <a:p>
            <a:pPr>
              <a:spcAft>
                <a:spcPts val="600"/>
              </a:spcAft>
              <a:defRPr sz="1300">
                <a:solidFill>
                  <a:srgbClr val="FFFFFF"/>
                </a:solidFill>
                <a:latin typeface="Arial"/>
              </a:defRPr>
            </a:pPr>
            <a:r>
              <a:t>   Engineered strict refresh token session caps to prevent unmanaged database growths while protecting sessions using secure SHA-256 hashes.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E1E24"/>
        </a:solidFill>
        <a:effectLst/>
      </p:bgPr>
    </p:bg>
    <p:spTree>
      <p:nvGrpSpPr>
        <p:cNvPr id="1" name=""/>
        <p:cNvGrpSpPr/>
        <p:nvPr/>
      </p:nvGrpSpPr>
      <p:grpSpPr/>
      <p:sp>
        <p:nvSpPr>
          <p:cNvPr id="2" name="TextBox 1"/>
          <p:cNvSpPr txBox="1"/>
          <p:nvPr/>
        </p:nvSpPr>
        <p:spPr>
          <a:xfrm>
            <a:off x="457200" y="365760"/>
            <a:ext cx="11277295" cy="731520"/>
          </a:xfrm>
          <a:prstGeom prst="rect">
            <a:avLst/>
          </a:prstGeom>
          <a:noFill/>
        </p:spPr>
        <p:txBody>
          <a:bodyPr wrap="square">
            <a:spAutoFit/>
          </a:bodyPr>
          <a:lstStyle/>
          <a:p>
            <a:pPr>
              <a:defRPr sz="2800" b="1">
                <a:solidFill>
                  <a:srgbClr val="00F2FE"/>
                </a:solidFill>
                <a:latin typeface="Arial"/>
              </a:defRPr>
            </a:pPr>
            <a:r>
              <a:t>System Limitations &amp; Future Work</a:t>
            </a:r>
          </a:p>
        </p:txBody>
      </p:sp>
      <p:sp>
        <p:nvSpPr>
          <p:cNvPr id="3" name="TextBox 2"/>
          <p:cNvSpPr txBox="1"/>
          <p:nvPr/>
        </p:nvSpPr>
        <p:spPr>
          <a:xfrm>
            <a:off x="457200" y="1188720"/>
            <a:ext cx="5486400" cy="5029200"/>
          </a:xfrm>
          <a:prstGeom prst="rect">
            <a:avLst/>
          </a:prstGeom>
          <a:noFill/>
        </p:spPr>
        <p:txBody>
          <a:bodyPr wrap="square">
            <a:spAutoFit/>
          </a:bodyPr>
          <a:lstStyle/>
          <a:p>
            <a:pPr>
              <a:spcAft>
                <a:spcPts val="600"/>
              </a:spcAft>
              <a:defRPr sz="1200" b="1">
                <a:solidFill>
                  <a:srgbClr val="00F2FE"/>
                </a:solidFill>
                <a:latin typeface="Arial"/>
              </a:defRPr>
            </a:pPr>
            <a:r>
              <a:t>Current Limitations (Transparent &amp; Honest)</a:t>
            </a:r>
          </a:p>
          <a:p>
            <a:pPr>
              <a:spcAft>
                <a:spcPts val="600"/>
              </a:spcAft>
              <a:defRPr sz="1100">
                <a:solidFill>
                  <a:srgbClr val="FFFFFF"/>
                </a:solidFill>
                <a:latin typeface="Arial"/>
              </a:defRPr>
            </a:pPr>
            <a:r>
              <a:t>     - In-Memory SSE Registry: Active sockets list runs in-memory; horizontal scaling requires Redis.</a:t>
            </a:r>
            <a:br/>
            <a:r>
              <a:t>  - Network-Dependent Submissions: Catch logs require active cellular network connections to complete.</a:t>
            </a:r>
            <a:br/>
            <a:r>
              <a:t>  - In-App Alerts Scope: Quota and mismatch warnings are in-app only, lacking external SMS gateways.</a:t>
            </a:r>
          </a:p>
          <a:p>
            <a:pPr>
              <a:spcAft>
                <a:spcPts val="600"/>
              </a:spcAft>
              <a:defRPr sz="1200" b="1">
                <a:solidFill>
                  <a:srgbClr val="00F2FE"/>
                </a:solidFill>
                <a:latin typeface="Arial"/>
              </a:defRPr>
            </a:pPr>
            <a:r>
              <a:t>Future Roadmap &amp; Enhancements</a:t>
            </a:r>
          </a:p>
          <a:p>
            <a:pPr>
              <a:spcAft>
                <a:spcPts val="600"/>
              </a:spcAft>
              <a:defRPr sz="1100">
                <a:solidFill>
                  <a:srgbClr val="FFFFFF"/>
                </a:solidFill>
                <a:latin typeface="Arial"/>
              </a:defRPr>
            </a:pPr>
            <a:r>
              <a:t>     - Redis Pub/Sub integration to support multi-instance horizontal scaling.</a:t>
            </a:r>
            <a:br/>
            <a:r>
              <a:t>  - SQLite offline caching database on the fisher device to support offline synchronization.</a:t>
            </a:r>
            <a:br/>
            <a:r>
              <a:t>  - Twilio or cellular SMS gateways integration to push alerts directly to inspectors.</a:t>
            </a:r>
          </a:p>
        </p:txBody>
      </p:sp>
      <p:pic>
        <p:nvPicPr>
          <p:cNvPr id="4" name="Picture 3" descr="fleet_telemetry.png"/>
          <p:cNvPicPr>
            <a:picLocks noChangeAspect="1"/>
          </p:cNvPicPr>
          <p:nvPr/>
        </p:nvPicPr>
        <p:blipFill>
          <a:blip r:embed="rId2"/>
          <a:stretch>
            <a:fillRect/>
          </a:stretch>
        </p:blipFill>
        <p:spPr>
          <a:xfrm>
            <a:off x="6217920" y="1463040"/>
            <a:ext cx="5486400" cy="41148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E1E24"/>
        </a:solidFill>
        <a:effectLst/>
      </p:bgPr>
    </p:bg>
    <p:spTree>
      <p:nvGrpSpPr>
        <p:cNvPr id="1" name=""/>
        <p:cNvGrpSpPr/>
        <p:nvPr/>
      </p:nvGrpSpPr>
      <p:grpSpPr/>
      <p:sp>
        <p:nvSpPr>
          <p:cNvPr id="2" name="TextBox 1"/>
          <p:cNvSpPr txBox="1"/>
          <p:nvPr/>
        </p:nvSpPr>
        <p:spPr>
          <a:xfrm>
            <a:off x="914400" y="1828800"/>
            <a:ext cx="10362895" cy="3200400"/>
          </a:xfrm>
          <a:prstGeom prst="rect">
            <a:avLst/>
          </a:prstGeom>
          <a:noFill/>
        </p:spPr>
        <p:txBody>
          <a:bodyPr wrap="square">
            <a:spAutoFit/>
          </a:bodyPr>
          <a:lstStyle/>
          <a:p>
            <a:pPr algn="ctr">
              <a:defRPr sz="4800" b="1">
                <a:solidFill>
                  <a:srgbClr val="00F2FE"/>
                </a:solidFill>
                <a:latin typeface="Arial"/>
              </a:defRPr>
            </a:pPr>
            <a:r>
              <a:t>ASSA SYSTEM</a:t>
            </a:r>
          </a:p>
          <a:p>
            <a:pPr algn="ctr">
              <a:spcBef>
                <a:spcPts val="1200"/>
              </a:spcBef>
              <a:defRPr sz="1800">
                <a:solidFill>
                  <a:srgbClr val="FFFFFF"/>
                </a:solidFill>
                <a:latin typeface="Arial"/>
              </a:defRPr>
            </a:pPr>
            <a:r>
              <a:t>Unified Resource Preservation and Digital Fish Commerce</a:t>
            </a:r>
          </a:p>
          <a:p>
            <a:br/>
            <a:pPr algn="ctr">
              <a:spcBef>
                <a:spcPts val="2400"/>
              </a:spcBef>
              <a:defRPr sz="2000" b="1">
                <a:solidFill>
                  <a:srgbClr val="4FACFE"/>
                </a:solidFill>
                <a:latin typeface="Arial"/>
              </a:defRPr>
            </a:pPr>
            <a:r>
              <a:t>Thank you for your time. I am open to any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